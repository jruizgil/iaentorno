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41148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46920" y="0"/>
            <a:ext cx="274320" cy="6858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TRABAJO FINAL — ILUMINACIÓN Y 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NO SALIR</a:t>
            </a:r>
          </a:p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DE DÍA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  <a:latin typeface="Calibri"/>
              </a:rPr>
              <a:t>Escenario de iluminación cinematográfica  ·  Unreal Engine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35"/>
                </a:solidFill>
                <a:latin typeface="Calibri"/>
              </a:rPr>
              <a:t>Modalidad A — Opción Cinematográfica  ·  4 secuencias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74920"/>
            <a:ext cx="274320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EUNEIZ  ·  Grado en Arte para Videojuegos  ·  Curso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CONCEPTO Y NARRATIVA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"En combate, la luz del día es el enemigo"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Cuatro secuencias cinematográficas narran la espera en una trinchera de la Primera Guerra Mundial. Salir durante el día significa muerte segura: la luz, normalmente asociada a la vida, se convierte aquí en amenaza. La oscuridad del atardecer es el único momento de acción posible.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2651760" cy="3108960"/>
          </a:xfrm>
          <a:prstGeom prst="rect">
            <a:avLst/>
          </a:prstGeom>
          <a:solidFill>
            <a:srgbClr val="152852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  <a:latin typeface="Calibri"/>
              </a:rPr>
              <a:t>SEC.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7307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ESTABLISHING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224528"/>
            <a:ext cx="23774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343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Plano general.
Contextualiza el espacio.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3200400"/>
            <a:ext cx="2651760" cy="3108960"/>
          </a:xfrm>
          <a:prstGeom prst="rect">
            <a:avLst/>
          </a:prstGeom>
          <a:solidFill>
            <a:srgbClr val="152852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  <a:latin typeface="Calibri"/>
              </a:rPr>
              <a:t>SEC.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7307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ARSENAL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93592" y="4224528"/>
            <a:ext cx="23774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4343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Close-up DoF.
Implica presencia humana.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200400"/>
            <a:ext cx="2651760" cy="3108960"/>
          </a:xfrm>
          <a:prstGeom prst="rect">
            <a:avLst/>
          </a:prstGeom>
          <a:solidFill>
            <a:srgbClr val="152852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  <a:latin typeface="Calibri"/>
              </a:rPr>
              <a:t>SEC.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37307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TRAVELLING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3951" y="4224528"/>
            <a:ext cx="23774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4343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Dolly + cartel.
"Keep to the trench."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19" y="3200400"/>
            <a:ext cx="2651760" cy="3108960"/>
          </a:xfrm>
          <a:prstGeom prst="rect">
            <a:avLst/>
          </a:prstGeom>
          <a:solidFill>
            <a:srgbClr val="152852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1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  <a:latin typeface="Calibri"/>
              </a:rPr>
              <a:t>SEC.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1" y="37307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SUNSET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54311" y="4224528"/>
            <a:ext cx="23774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1" y="4343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Exterior. Sol en horizonte.
La noche llega.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SETUP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Motor · Luces · 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MOTOR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Unreal Engine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939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ILUMINACIÓN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6829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Lumen — Dynamic GI + Reflections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62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SOMBRAS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3639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Virtual Shadow 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01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PIPELINE DE 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Movie Render Queue (offline)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982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FRAME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7258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24 fps — look cinematográfico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ANTI-ALIASING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406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TSR — Temporal Super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344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ASSET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0877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FAB Trench Pack — luces / cámaras
rehechas íntegramente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KEY 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002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Directional Light — Movable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939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FILL 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6829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Sky Light — Real Time 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62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COLOR TEMPERATURE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13639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3.500 K  (ámbar cálido)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301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VOLUMETRIC FOG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0448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Exponential Height Fog  ·  Density 0.02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982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LENTES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7258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35 mm  ·  50 mm  (Cine Camera Actor)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66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APERTURA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44068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f/2  →  f/8  según secuencia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9344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RESOLUCIÓN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20877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1920 × 1080 — ratio 16:9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1188720"/>
            <a:ext cx="45720" cy="5486400"/>
          </a:xfrm>
          <a:prstGeom prst="rect">
            <a:avLst/>
          </a:prstGeom>
          <a:solidFill>
            <a:srgbClr val="2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ILUMINACIÓN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 ·  Fill  ·  Atmósfera volumétrica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657600" cy="5212080"/>
          </a:xfrm>
          <a:prstGeom prst="rect">
            <a:avLst/>
          </a:prstGeom>
          <a:solidFill>
            <a:srgbClr val="152852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KEY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928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Directional Light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13432"/>
            <a:ext cx="32918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4144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Mobility: Movable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Intensity: 8–10 lux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9359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Color Temp: 3.500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966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Source Angle: 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45736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Atmosphere Sun Light: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2180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Cast Volumetric Shadow: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9788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Vol. Scattering Int.: 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325880"/>
            <a:ext cx="3657600" cy="5212080"/>
          </a:xfrm>
          <a:prstGeom prst="rect">
            <a:avLst/>
          </a:prstGeom>
          <a:solidFill>
            <a:srgbClr val="152852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4904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FILL / SKY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8928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Sky Light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313432"/>
            <a:ext cx="32918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44144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Source: Real Time 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01752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Intensity Scale: 0.4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59359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Sky Atmosphere vinculada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6966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No compite con la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45736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Evita negros absolutos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32180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Lower Hemisphere: Color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1325880"/>
            <a:ext cx="3657600" cy="5212080"/>
          </a:xfrm>
          <a:prstGeom prst="rect">
            <a:avLst/>
          </a:prstGeom>
          <a:solidFill>
            <a:srgbClr val="152852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14904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ATMÓSFERA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18928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Volumetric Fog + Lumen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2313432"/>
            <a:ext cx="32918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244144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Fog Density: 0.02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01752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Scattering Dist.: 0.6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59359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Inscattering: ámbar oscuro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16966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Lumen GI Quality: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745736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God rays vía Vol. Shadow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532180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· Niebla en zonas de haces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SECUENCIA 1 — ESTABLISHING 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Plano general · Presentación del escenario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027f003-1000149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223760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3258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TIPO DE PLANO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5819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Plano General (Establishing Shot)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09397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LENTE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350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35 mm — ángulo amplio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8620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APERTURA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11810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f/8 — profundidad de campo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63016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COMPOSICIÓN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886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Líneas guía convergentes · Punto
de fuga central (pasillo trinchera)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98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KEY 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5429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Directional lateral-superior
God rays visibles por Vol. Fog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16636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COLOR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4223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Dominante ámbar 3500 K
Sky fill en sombras neutras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93445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619048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2.39:1 Cinemascope (letterbox)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SECUENCIA 2 — ARSENAL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Close-up · Cajas de munición · DoF extremo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8008f10a-1000149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223760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3258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TIPO DE PLANO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5819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Primer plano con bajo ángulo
(cámara a nivel del suelo)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09397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LENTE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350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50 mm — compresión de perspectiva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8620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APERTURA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11810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f/2 — bokeh pronunciado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63016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FOCO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886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Manual focus en cajas
Foreground desenfocado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98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ILUMINACIÓN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5429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Rim light cálido lateral
Fondo en penumbra (clave baja)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16636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NARRATIVA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4223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Escala humana implícita
Vida sin mostrar personas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93445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COLOR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619048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Ámbar saturado sobre negro
Contraste térmico máximo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SECUENCIA 3 — TRAVELLING + CARTEL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Dolly forward · Pull focus · "Keep to the trench in daylight"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8ad82bc8-1000149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577840" cy="3154680"/>
          </a:xfrm>
          <a:prstGeom prst="rect">
            <a:avLst/>
          </a:prstGeom>
        </p:spPr>
      </p:pic>
      <p:pic>
        <p:nvPicPr>
          <p:cNvPr id="7" name="Picture 6" descr="01f972cd-10001490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371600"/>
            <a:ext cx="5760720" cy="3154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6177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Inicio — dolly con god rays a contraluz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461772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Final — close-up cartel en penumbra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1206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B35"/>
                </a:solidFill>
                <a:latin typeface="Calibri"/>
              </a:rPr>
              <a:t>Lente: 35 mm → 50 mm  ·  Apertura: f/4 → f/2  ·  Movimiento: Dolly forward (Sequencer keyframes, ease-in/out)  ·  Iluminación: contraluz key + Vol. Fog al inicio → oscuridad total al llegar al cartel  ·  Pull focus dinámico: de la niebla al cartel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SECUENCIA 4 — SUNSET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Plano exterior · El sol se pone · La noche llega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4b6f34c-1000149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223760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3258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TIPO DE PLANO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5819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Plano general exterior
Vista desde dentro de la trinchera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09397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LENTE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350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35 mm — campo amplio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8620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APERTURA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11810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f/8 — todo en foco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63016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ILUMINACIÓN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886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Directional casi en horizonte
Sol a ~2–3° — máxima calidez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98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COLOR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5429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Rojo-naranja dominante
Siluetas en negro absoluto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16636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VOLUMETRIC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4223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Humo + fog denso
Atmósfera de campo de batalla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93445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NARRATIVA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619048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La oscuridad = libertad de acción
El sol cayendo = cuenta atrás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PALETA CROMÁTICA Y MOOD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Psicología del color aplicada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743200" cy="1554480"/>
          </a:xfrm>
          <a:prstGeom prst="rect">
            <a:avLst/>
          </a:prstGeom>
          <a:solidFill>
            <a:srgbClr val="D4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0632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ÁMBAR / OCRE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93008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Dominante cálida
3500K Directional
Peligro · Urgencia · Calor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2743200" cy="1554480"/>
          </a:xfrm>
          <a:prstGeom prst="rect">
            <a:avLst/>
          </a:prstGeom>
          <a:solidFill>
            <a:srgbClr val="E84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0632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ROJO-NARANJA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493008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Sunset (sec. 4)
Sol en horizonte
Sangre · Guerra · Alerta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2743200" cy="1554480"/>
          </a:xfrm>
          <a:prstGeom prst="rect">
            <a:avLst/>
          </a:prstGeom>
          <a:solidFill>
            <a:srgbClr val="15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0632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NEGRO PROFUNDO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493008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Sombras Lumen
Siluetas / trinchera
Muerte · Opresión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417320"/>
            <a:ext cx="2743200" cy="1554480"/>
          </a:xfrm>
          <a:prstGeom prst="rect">
            <a:avLst/>
          </a:prstGeom>
          <a:solidFill>
            <a:srgbClr val="8A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30632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TIERRA / SEPIA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493008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Base color del asset
Sacos · Madera · Arena
Guerra · Abandono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983480"/>
            <a:ext cx="11155680" cy="45720"/>
          </a:xfrm>
          <a:prstGeom prst="rect">
            <a:avLst/>
          </a:prstGeom>
          <a:solidFill>
            <a:srgbClr val="2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2064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La inversión psicológica del color es el eje narrativo: la LUZ cálida (ámbar, rojo) representa el PELIGRO, mientras la OSCURIDAD es la única vía de supervivencia. Lumen amplifica este contraste con rebotes que saturan las zonas iluminadas y hunden las sombras en negro profundo.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CRITERIOS DE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Alineación del trabajo con los criterios de la asignatura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80467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258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ILUMINACIÓN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7335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Directional Light 3500K + Sky Light Real Time Capture + Lumen GI. Volumetric Fog (density 0.02) con Cast Volumetric Shadow para god rays. Temperatura y ángulo solar consistentes en las 4 secuencias.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80467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86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MOOD Y ATMÓSFERA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3347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Paleta ámbar/rojo/negro. Niebla volumétrica que refuerza la tensión. Inversión psicológica: luz = peligro, oscuridad = escape. Presencia humana implícita sin figuras.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80467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46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COMPOSICIÓN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9359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Líneas guía (paredes de trinchera). Regla de tercios. Variedad de encuadres: general → close-up → dolly → exterior. Ratio 2.39:1 con letterbox.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80467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06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ASPECTOS TÉCNICOS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55371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Lumen + Virtual Shadow Maps. Movie Render Queue 24fps. Lentes 35mm/50mm. Apertura f/2–f/8. Asset FAB con iluminación reconstruida íntegramente.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66360"/>
            <a:ext cx="80467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57800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1663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SEGUIMIENTO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51383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4 secuencias completas entregadas. Breakdown del motor. Narrativa coherente y documentada desde el concepto hasta el render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